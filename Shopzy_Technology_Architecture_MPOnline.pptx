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45920"/>
            <a:ext cx="109728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</a:rPr>
              <a:t>MP ONLINE HACKATHON 2026 — STATE INNOVATION CHALLENGE</a:t>
            </a:r>
          </a:p>
          <a:p>
            <a:pPr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</a:rPr>
              <a:t>SHOPZY: Technology Architecture</a:t>
            </a:r>
          </a:p>
          <a:p>
            <a:pPr>
              <a:spcAft>
                <a:spcPts val="2000"/>
              </a:spcAft>
            </a:pPr>
            <a:r>
              <a:rPr sz="1800">
                <a:solidFill>
                  <a:srgbClr val="94A3B8"/>
                </a:solidFill>
              </a:rPr>
              <a:t>Hyperlocal Commerce, Geospatial Price Engine &amp; Bhopal Tourism Integration</a:t>
            </a:r>
          </a:p>
          <a:p>
            <a:r>
              <a:rPr sz="1200">
                <a:solidFill>
                  <a:srgbClr val="CBD5E1"/>
                </a:solidFill>
              </a:rPr>
              <a:t>Tech Stack: React 18 SPA | Node.js 22 LTS | MongoDB 2dsphere | Redis | Docker | Gemini AI
Candidate: Sanket Raikwar | Repository: github.com/sanketraikwar12/shopzy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THE OPPORTUNITY</a:t>
            </a:r>
          </a:p>
          <a:p>
            <a:r>
              <a:rPr sz="2000" b="1">
                <a:solidFill>
                  <a:srgbClr val="FFFFFF"/>
                </a:solidFill>
              </a:rPr>
              <a:t>Problem Formulation &amp; Solution Innovation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The MSME Crisis in MP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Local shops are losing footfall to aggregators charging 15-30% commissions.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Physical retail lacks transparent price discovery, frustrating shoppers.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Merchants lose customer ownership and customer relationships.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Zero digital footprint for traditional handicraft and regional artisans.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The Tourism Disconnect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Bhopal receives millions of tourists (Upper Lake, Bhojpur, Bhimbetka, Sanchi).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Visitors lack a reliable guide to verified shops near historic landmarks.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Tourists fall victim to inflated prices or miss authentic local specialties.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No unified digital bridge linking heritage sites with neighbourhood commerce.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The Shopzy Innovation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Real-time geospatial price comparison across physical stores.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Direct-to-merchant connection: zero commission, one-click WhatsApp/Call.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Integrated Bhopal Tourism discovery mapping 15 landmarks to local shops.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Shopzy AI Assistant for natural language shopping and tourism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SYSTEM DESIGN</a:t>
            </a:r>
          </a:p>
          <a:p>
            <a:r>
              <a:rPr sz="2000" b="1">
                <a:solidFill>
                  <a:srgbClr val="FFFFFF"/>
                </a:solidFill>
              </a:rPr>
              <a:t>3-Tier Decoupled System Architecture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5029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12480" y="1280160"/>
            <a:ext cx="310896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Architectural Highlights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Presentation: React 18 SPA (Vite + TS) with lightweight 101KB initial bundle.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Edge / Gateway: Nginx reverse proxy with TLS, rate limits, and CORS hardening.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Application: Node 22 + Express using clean layered service architecture.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Database: MongoDB 2dsphere S2 spherical geometry index with zero-join reads.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Caching: Redis LRU cache for high-velocity search queries and token blacklisting.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Evaluation Mode: In-memory MongoDB with zero cloud dependencies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PRESENTATION LAYER</a:t>
            </a:r>
          </a:p>
          <a:p>
            <a:r>
              <a:rPr sz="2000" b="1">
                <a:solidFill>
                  <a:srgbClr val="FFFFFF"/>
                </a:solidFill>
              </a:rPr>
              <a:t>Client Tier: Performance-First Frontend Engineering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Core Framework &amp; Build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Vite + TypeScript: Instant HMR and strictly typed contract enforcement.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Tailwind CSS v4: Minimal CSS footprint with unified design tokens.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Lucide Icons Tree-Shaking: Namespace imports avoided; custom registry trimmed bundle from 855KB to 87KB.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Route-Level Code Splitting: Dynamic chunk loading keeps initial load at ~101KB.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State Management Strategy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TanStack Query (React Query): Server-state caching, automatic background refetches, and optimistic UI updates.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Zustand Store: Lightweight client-only state (user location, authentication tokens, comparison tray).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HTML5 Geolocation API: Instant current GPS pinpointing with manual map fallback.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Zero Redux Bloat: 70% less boilerplate with granular selector reactivity.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User Experience &amp; Accessibility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Mobile-First Responsive Layout: Optimized for small mobile viewports and touch targets.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WCAG AA Contrast: High legibility typography and accessible ARIA attributes.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Tactile State Handling: Complete UX coverage for Loading Skeleton, Empty, Error, and Success states.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PWA &amp; Offline Readiness: Service worker cached assets for smooth offline access.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APPLICATION LAYER</a:t>
            </a:r>
          </a:p>
          <a:p>
            <a:r>
              <a:rPr sz="2000" b="1">
                <a:solidFill>
                  <a:srgbClr val="FFFFFF"/>
                </a:solidFill>
              </a:rPr>
              <a:t>Backend Architecture: Layered Services &amp; Security 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Clean Layered Architecture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Separation of Concerns: Controller -&gt; Service -&gt; Repository/Model.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Strict Architectural Invariant: Domain services never import Express Request or Response types.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Async Handler Pattern: All asynchronous route errors funneled into a centralized error middleware.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Typed Custom ApiError: Uniform RFC 7807 error envelopes with operational status codes.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Request Processing Pipeline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1. Helmet: Sets strict CSP, HSTS, X-Content-Type-Options headers.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2. MongoSanitize: Strips MongoDB injection vectors ($ and . keys).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3. HPP: Protects against HTTP Parameter Pollution attacks.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4. Correlation ID: Traces requests via AsyncLocalStorage for end-to-end audit logging.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5. Zod Validator: Enforces strict schema contracts before controllers are invoked.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Stateless Resilience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Zero server-side sticky sessions; scales horizontally across multiple pods.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Graceful Shutdown: Handles SIGTERM by draining in-flight requests, closing MongoDB pools and Redis connections.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Circuit-Breaker Ready: Automatic fallback to local memory caching if Redis is temporarily unreachable.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Mongoose Pool Tuning: 5-50 connection pool sizing tuned for cloud replica 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SEARCH ENGINE</a:t>
            </a:r>
          </a:p>
          <a:p>
            <a:r>
              <a:rPr sz="2000" b="1">
                <a:solidFill>
                  <a:srgbClr val="FFFFFF"/>
                </a:solidFill>
              </a:rPr>
              <a:t>Geospatial Search Engine: 2dsphere &amp; Single-Pass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How the Geospatial Pipeline Operates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Index Specification: 2dsphere on coordinates: [longitude, latitude] based on Google S2 spherical geometry.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Stage 1: $geoNear (Must be first stage):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  - Calculates true spherical distance in meters across the Earth's curvature.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  - Prunes shops outside maxDistance directly in the index walk.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Stage 2: $facet Multi-Dimension Aggregation: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  - Pipeline A: Paged, ranked shop results with computed distance.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  - Pipeline B: Category breakdown with matching shop counts.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  - Pipeline C: Price range min/max across all nearby matching shops.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Latency Achievement: ~37ms cold query execution, ~1ms cached in Redis.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Why 2dsphere Beats Traditional RDBMS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Traditional B-Tree Problem: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  - Querying latitude and longitude via separate columns requires scanning a 2D bounding box.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  - Results include corners of the box that exceed the radius, requiring heavy post-filtering trigonometric math.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Shopzy S2 Spherical Geometry Advantage: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  - Earth is projected onto a cube and divided into hierarchical Hilbert curve cells.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  - Index walk traverses strictly along proximity curves in distance order.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  - Distance sorting comes 100% free with the index walk, eliminating sort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DATA TIER</a:t>
            </a:r>
          </a:p>
          <a:p>
            <a:r>
              <a:rPr sz="2000" b="1">
                <a:solidFill>
                  <a:srgbClr val="FFFFFF"/>
                </a:solidFill>
              </a:rPr>
              <a:t>Data Architecture: Schemas, Indexes &amp; Denormalization</a:t>
            </a:r>
          </a:p>
        </p:txBody>
      </p:sp>
      <p:pic>
        <p:nvPicPr>
          <p:cNvPr id="3" name="Picture 2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315200" cy="5029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0" y="1280160"/>
            <a:ext cx="32004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Data Design Highlights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Atomic Denormalization: Ratings and price ranges cached on Shop documents during writes (Zero N+1 joins).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Unique Constraint: Compound index on {shopId: 1, userId: 1} guarantees 1 review per user.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TTL Auto-Pruning: AnalyticsEvent records auto-expire after 180 days via native TTL index.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Audit Trail: Immutable AuditLog records all administrative actions.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Audience Serializers: Search results strip sensitive merchant documents and internal fields.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DATA FLOW</a:t>
            </a:r>
          </a:p>
          <a:p>
            <a:r>
              <a:rPr sz="2000" b="1">
                <a:solidFill>
                  <a:srgbClr val="FFFFFF"/>
                </a:solidFill>
              </a:rPr>
              <a:t>Data Flow Architecture: Context &amp; Process Decomposition</a:t>
            </a:r>
          </a:p>
        </p:txBody>
      </p:sp>
      <p:pic>
        <p:nvPicPr>
          <p:cNvPr id="3" name="Picture 2" descr="dfd_lev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120640" cy="5029200"/>
          </a:xfrm>
          <a:prstGeom prst="rect">
            <a:avLst/>
          </a:prstGeom>
        </p:spPr>
      </p:pic>
      <p:pic>
        <p:nvPicPr>
          <p:cNvPr id="4" name="Picture 3" descr="dfd_lev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2120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VALUE CREATION</a:t>
            </a:r>
          </a:p>
          <a:p>
            <a:r>
              <a:rPr sz="2000" b="1">
                <a:solidFill>
                  <a:srgbClr val="FFFFFF"/>
                </a:solidFill>
              </a:rPr>
              <a:t>MP Tourism Integration &amp; Shopzy AI Assistant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Bhopal Tourism Discovery Engine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15 Pre-Seeded Iconic Locations: Upper Lake, Van Vihar, Taj-ul-Masajid, Bhojpur, Bhimbetka, Tribal Museum, etc.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Heritage-Commerce Synergy: Highlights traditional markets near monuments (e.g. Chowk, New Market, Sarafa).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Smart Route Planning: Recommends nearby shops, local food stalls, and artisan outlets based on visitor itinerary.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Preserving Local Heritage: Spotlights GI-tagged products like Chanderi &amp; Maheshwari sarees and MP handicrafts.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Shopzy AI Assistant (Gemini Powered)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Conversational Discovery: Understands natural queries like 'Best tea and snacks near Upper Lake at night?'.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Intent &amp; Entity Extraction: Identifies category, budget, and geographic proximity from plain Hindi/English.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Real-Time Inventory Match: Verifies open hours and pricing before recommending stores to the customer.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Personalized Bargaining &amp; Tips: Educates shoppers on fair pricing and authentic local shopping practices.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TRUST &amp; COMPLIANCE</a:t>
            </a:r>
          </a:p>
          <a:p>
            <a:r>
              <a:rPr sz="2000" b="1">
                <a:solidFill>
                  <a:srgbClr val="FFFFFF"/>
                </a:solidFill>
              </a:rPr>
              <a:t>Security, Authentication &amp; DPDP Act 2023 Compliance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Dual JWT Token Rotation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15-Minute Short-Lived Access Token: Minimizes window of exposure upon potential token leak.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7-Day Refresh Token with Single-Use JTI: Redeeming a token blacklists its ID and rotates a new pair.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Automatic Breach Detection: If a previously used refresh token is presented, all user sessions are instantly revoked.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Redis-Backed Blacklist: Instant invalidation across all distributed nodes.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OWASP Top 10 Mitigations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Enumeration Resistance: Login responses for non-existent users and bad passwords are byte-identical.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Mass Assignment Guard: User profile updates explicitly construct MongoDB updates field-by-field.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Rate Limiting: Strict sliding-window rate limiters on auth, search, and general endpoints.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Safe File Uploads: Type verification, size clamping, and isolation from web root.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DPDP Act 2023 Compliance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Right to Erasure (Account Deletion): Automated cascade deletion of personal records and anonymization of public reviews.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Data Minimization: Location is captured solely for proximity calculation and not retained in permanent tracking logs.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Explicit Consent: Clear opt-in workflows for notifications and location access.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Audit Logging: Tamper-evident admin logs for compliance audit inspection.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RELIABILITY</a:t>
            </a:r>
          </a:p>
          <a:p>
            <a:r>
              <a:rPr sz="2000" b="1">
                <a:solidFill>
                  <a:srgbClr val="FFFFFF"/>
                </a:solidFill>
              </a:rPr>
              <a:t>DevOps, Containerization &amp; Automated Testing Rigor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Docker Orchestration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Multi-stage Docker builds: intermediate compiler discard cuts image size by 75%.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Hardened Alpine Runtime: Runs as unprivileged 'node' user.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Dumb-Init Process Wrapper: Ensures SIGTERM signals reach Node.js for clean shutdown.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Docker Compose: Single-command orchestration for API, Web, Mongo, and Redis.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89 Passing Automated Tests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Real HTTP Supertest Suite: Tests run against real in-memory MongoDB instances (no mock shortcuts).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Auth Testing: Token rotation, replay attacks, password rotation, and enumeration resistance.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Shop Search Testing: Geospatial boundary verification, distance ranking, and soft delete.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Utility Testing: Midnight-crossing opening hours, break hours, and Haversine algorithms.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Production Readiness Metrics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Cold Search Latency: ~37ms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Cached Search Latency: ~1ms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Frontend Initial Bundle: ~101KB gzipped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Test Coverage: 78%+ line coverage across server core services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Zero-Config Hackathon Mode: Fully runnable without any cloud credentials.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/>
            <a:r>
              <a:rPr sz="1000" b="1">
                <a:solidFill>
                  <a:srgbClr val="2563EB"/>
                </a:solidFill>
              </a:rPr>
              <a:t>ROADMAP &amp; IMPACT</a:t>
            </a:r>
          </a:p>
          <a:p>
            <a:r>
              <a:rPr sz="2000" b="1">
                <a:solidFill>
                  <a:srgbClr val="FFFFFF"/>
                </a:solidFill>
              </a:rPr>
              <a:t>Scaling Roadmap &amp; Economic Impact for Madhya Pradesh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Architectural Evolution Roadmap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100K Shops Scale: Seamless migration from Regex to Elasticsearch (decoupled SearchService makes this a single-file drop-in).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10M Analytics Scale: Stream high-frequency click events into ClickHouse, keeping Mongo lean for transactional data.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Distributed Media: Presigned direct uploads to AWS S3 / Cloudinary CDN.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Microservices Decomposition: Clean service separation enables breaking auth, search, and shops into distinct services when concurrency reaches 10K+.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201168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</a:rPr>
              <a:t>Impact on Madhya Pradesh Economy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Zero-Commission Model: Saves local shopkeepers lakhs in aggregator commissions annually.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Promoting MP Handloom &amp; Craft: Showcases traditional Chanderi, Maheshwari, and Gond art to domestic &amp; international tourists.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Digital Inclusion for Tier 2/3 Cities: Expandable from Bhopal to Indore, Jabalpur, Gwalior, and Ujjain.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334155"/>
                </a:solidFill>
              </a:rPr>
              <a:t>• Hackathon Submission Excellence: Complete working code, full test coverage, robust security, and enterprise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